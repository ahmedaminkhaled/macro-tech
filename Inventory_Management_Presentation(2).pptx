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66" r:id="rId6"/>
    <p:sldId id="267" r:id="rId7"/>
    <p:sldId id="273" r:id="rId8"/>
    <p:sldId id="268" r:id="rId9"/>
    <p:sldId id="261" r:id="rId10"/>
    <p:sldId id="262" r:id="rId11"/>
    <p:sldId id="263" r:id="rId12"/>
    <p:sldId id="271" r:id="rId13"/>
    <p:sldId id="264" r:id="rId14"/>
    <p:sldId id="265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61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345B-D374-B08D-4A97-96915589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6BD3C-41C9-711F-6ED5-3BE22AF04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09D71-D951-D6FF-C04B-B12AB2687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04DB3-F52F-DE5D-A9C2-4AAF49683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81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6092F-B49B-194D-E3C9-4BE48157E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F9588-75C6-0555-1E57-8A0E412E5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365C05-EC5C-F1C6-64BE-34922DFEE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7A2D7-4575-33BF-0D2E-7CDFB0FF24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50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EE5C-AF2B-258E-3799-CA215293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E9441-BED5-EC23-5564-E635020B8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25B15-664D-5F3F-F7B2-ECCAB07C25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97682-F581-4931-4A0C-BB64ACFA3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68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A6BD-3E8E-09D6-7590-F611C3BC2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955F2-D677-25A2-A167-751DBEC4C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CD1043-86AE-A058-722C-85585E1DC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73494-6708-05B0-F3CD-6B20D7BE8A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92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10AA3-F276-E376-94FD-13AAC139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97EC8-63D0-EFB4-AD64-5C946395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26521-3E1A-EE25-8718-872CFE26A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D5C7B-BBE0-8E1D-5C81-51BDBF5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85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0DD0-2AC8-5602-7F15-EAB4AA3A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0AED1-E812-81DA-10F9-0780EC981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6D687-ED6E-A162-A385-54ECF2CD8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F6CDD-68C7-AD08-73A9-A9D960B5C2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9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8229600" y="3200400"/>
            <a:ext cx="1645920" cy="164592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3200400" cy="411480"/>
          </a:xfrm>
          <a:prstGeom prst="rect">
            <a:avLst/>
          </a:prstGeom>
          <a:solidFill>
            <a:schemeClr val="accent2">
              <a:alpha val="8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Faculty of Sciences of Sfax — P2I2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tech 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634201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 System for a Computer Store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572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Course: </a:t>
            </a:r>
            <a:r>
              <a:rPr lang="en-US" sz="1300" dirty="0">
                <a:solidFill>
                  <a:srgbClr val="FFFFFF"/>
                </a:solidFill>
              </a:rPr>
              <a:t>Programmation Web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Instructors : </a:t>
            </a:r>
            <a:r>
              <a:rPr lang="en-US" sz="1300" dirty="0">
                <a:solidFill>
                  <a:srgbClr val="FFFFFF"/>
                </a:solidFill>
              </a:rPr>
              <a:t>Sahar Dammak &amp; </a:t>
            </a:r>
            <a:r>
              <a:rPr lang="en-US" sz="1300" dirty="0" err="1">
                <a:solidFill>
                  <a:srgbClr val="FFFFFF"/>
                </a:solidFill>
              </a:rPr>
              <a:t>Wiem</a:t>
            </a:r>
            <a:r>
              <a:rPr lang="en-US" sz="1300" dirty="0">
                <a:solidFill>
                  <a:srgbClr val="FFFFFF"/>
                </a:solidFill>
              </a:rPr>
              <a:t> </a:t>
            </a:r>
            <a:r>
              <a:rPr lang="en-US" sz="1300" dirty="0" err="1">
                <a:solidFill>
                  <a:srgbClr val="FFFFFF"/>
                </a:solidFill>
              </a:rPr>
              <a:t>Hachicha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Academic Year: </a:t>
            </a:r>
            <a:r>
              <a:rPr lang="en-US" sz="1300" dirty="0">
                <a:solidFill>
                  <a:srgbClr val="FFFFFF"/>
                </a:solidFill>
              </a:rPr>
              <a:t>2025-2026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BD2EFA5-116B-37E3-DD83-3C239EEAAA7E}"/>
              </a:ext>
            </a:extLst>
          </p:cNvPr>
          <p:cNvSpPr txBox="1"/>
          <p:nvPr/>
        </p:nvSpPr>
        <p:spPr>
          <a:xfrm>
            <a:off x="352697" y="4171797"/>
            <a:ext cx="5627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59E0B"/>
                </a:solidFill>
              </a:rPr>
              <a:t>Project group</a:t>
            </a:r>
            <a:r>
              <a:rPr lang="en-US" sz="1800" b="1" dirty="0">
                <a:solidFill>
                  <a:srgbClr val="F59E0B"/>
                </a:solidFill>
              </a:rPr>
              <a:t>: </a:t>
            </a:r>
            <a:r>
              <a:rPr lang="en-US" b="1" dirty="0">
                <a:solidFill>
                  <a:srgbClr val="FFFFFF"/>
                </a:solidFill>
              </a:rPr>
              <a:t>Ahmed Amine Khaled</a:t>
            </a:r>
            <a:r>
              <a:rPr lang="en-US" sz="1800" dirty="0">
                <a:solidFill>
                  <a:srgbClr val="FFFFFF"/>
                </a:solidFill>
              </a:rPr>
              <a:t>&amp; Rayen </a:t>
            </a:r>
            <a:r>
              <a:rPr lang="en-US" sz="1800" dirty="0" err="1">
                <a:solidFill>
                  <a:srgbClr val="FFFFFF"/>
                </a:solidFill>
              </a:rPr>
              <a:t>belghith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34E0AD1-24A4-BCAD-F643-02E82DF5C9E5}"/>
              </a:ext>
            </a:extLst>
          </p:cNvPr>
          <p:cNvSpPr/>
          <p:nvPr/>
        </p:nvSpPr>
        <p:spPr>
          <a:xfrm>
            <a:off x="8379824" y="4541129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972453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2954166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88620" y="2980291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143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Database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897957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3899263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3925389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943677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Home Page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184148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00600" y="1193292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1184148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2298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Category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5740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205740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2057400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103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Product Management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99466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0" name="Shape 28"/>
          <p:cNvSpPr/>
          <p:nvPr/>
        </p:nvSpPr>
        <p:spPr>
          <a:xfrm>
            <a:off x="4846320" y="299466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46320" y="2994660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1683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Stock Management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4068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90906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846320" y="3909060"/>
            <a:ext cx="50292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46320" y="3909060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9547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Search &amp; Sorting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8D034678-292E-E7BC-6B7A-30A44B1BF0AA}"/>
              </a:ext>
            </a:extLst>
          </p:cNvPr>
          <p:cNvSpPr/>
          <p:nvPr/>
        </p:nvSpPr>
        <p:spPr>
          <a:xfrm>
            <a:off x="411480" y="2109651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F3870CB5-13BB-FDF4-1A53-B9FBBE46670B}"/>
              </a:ext>
            </a:extLst>
          </p:cNvPr>
          <p:cNvSpPr/>
          <p:nvPr/>
        </p:nvSpPr>
        <p:spPr>
          <a:xfrm>
            <a:off x="411480" y="2095283"/>
            <a:ext cx="502920" cy="73152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pPr algn="ctr"/>
            <a:endParaRPr lang="fr-FR" dirty="0"/>
          </a:p>
          <a:p>
            <a:pPr algn="ctr"/>
            <a:r>
              <a:rPr lang="fr-FR" dirty="0"/>
              <a:t>  	</a:t>
            </a: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5FF199CA-CA21-C600-0D2C-F7366005C8FC}"/>
              </a:ext>
            </a:extLst>
          </p:cNvPr>
          <p:cNvSpPr/>
          <p:nvPr/>
        </p:nvSpPr>
        <p:spPr>
          <a:xfrm>
            <a:off x="1005840" y="2305921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Technologies used</a:t>
            </a:r>
            <a:endParaRPr lang="en-US" sz="12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2F80459F-9965-D3C4-0AB5-3162D9A906FD}"/>
              </a:ext>
            </a:extLst>
          </p:cNvPr>
          <p:cNvSpPr/>
          <p:nvPr/>
        </p:nvSpPr>
        <p:spPr>
          <a:xfrm>
            <a:off x="388620" y="2108345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245C6D15-EF7E-25CB-895B-6EEBA3E0BA1B}"/>
              </a:ext>
            </a:extLst>
          </p:cNvPr>
          <p:cNvSpPr/>
          <p:nvPr/>
        </p:nvSpPr>
        <p:spPr>
          <a:xfrm>
            <a:off x="8585564" y="4686300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</a:rPr>
              <a:t>Team: Macro Tech  |  Web Programming — Academic Year 2025-2026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34254-74F3-B796-4DE6-BAE19820D3B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  <a:p>
            <a:endParaRPr lang="en-US" dirty="0"/>
          </a:p>
          <a:p>
            <a:r>
              <a:rPr lang="en-US" sz="2400" dirty="0"/>
              <a:t>Managing computer store inventory manually is both time-consuming and prone to errors. To address this issue, the Macro Tech team developed a web-based Inventory Management System designed specifically for a computer retail store. </a:t>
            </a:r>
            <a:r>
              <a:rPr lang="en-US" sz="2400" spc="-63" dirty="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 provides an admin centered graphical  interface  that enables efficient access to tech </a:t>
            </a:r>
            <a:r>
              <a:rPr lang="en-US" sz="2400" spc="-63" dirty="0" err="1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information,buying</a:t>
            </a:r>
            <a:r>
              <a:rPr lang="en-US" sz="2400" spc="-63" dirty="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selling products, </a:t>
            </a:r>
            <a:r>
              <a:rPr lang="en-US" sz="2400" dirty="0"/>
              <a:t>This system allows staff to efficiently manage products, categories, and stock levels through a clean and dynamic user interface. Built using HTML, CSS, PHP, and MySQL</a:t>
            </a:r>
            <a:r>
              <a:rPr lang="en-US" sz="2400" spc="-63" dirty="0">
                <a:solidFill>
                  <a:srgbClr val="F7F7F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 </a:t>
            </a:r>
            <a:endParaRPr lang="fr-FR" sz="24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80BFD9F2-C337-283A-E2CA-7A564DCDF2C2}"/>
              </a:ext>
            </a:extLst>
          </p:cNvPr>
          <p:cNvSpPr/>
          <p:nvPr/>
        </p:nvSpPr>
        <p:spPr>
          <a:xfrm>
            <a:off x="91440" y="1234441"/>
            <a:ext cx="1812470" cy="45719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8A2702F-5A20-2E24-30FC-F12A4FCFCEA3}"/>
              </a:ext>
            </a:extLst>
          </p:cNvPr>
          <p:cNvSpPr/>
          <p:nvPr/>
        </p:nvSpPr>
        <p:spPr>
          <a:xfrm>
            <a:off x="8481060" y="4583430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03FD1E-544E-E8E9-2340-43C752B114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3F05F55E-8634-B4C0-F78E-F4260F2D4E63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3FE7CA3-D2FD-3E49-1399-08FE4AF239B8}"/>
              </a:ext>
            </a:extLst>
          </p:cNvPr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9420696-6F1A-810F-6968-705A1DB0AAB1}"/>
              </a:ext>
            </a:extLst>
          </p:cNvPr>
          <p:cNvSpPr/>
          <p:nvPr/>
        </p:nvSpPr>
        <p:spPr>
          <a:xfrm>
            <a:off x="411480" y="2057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C0D703CF-1EC4-9223-5903-1D9AD0A4A2DC}"/>
              </a:ext>
            </a:extLst>
          </p:cNvPr>
          <p:cNvSpPr/>
          <p:nvPr/>
        </p:nvSpPr>
        <p:spPr>
          <a:xfrm>
            <a:off x="731520" y="2011680"/>
            <a:ext cx="37490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</a:rPr>
              <a:t>Category management</a:t>
            </a:r>
            <a:endParaRPr lang="en-US" sz="24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D58F9E6D-9414-5815-C88B-3EA21CFC570F}"/>
              </a:ext>
            </a:extLst>
          </p:cNvPr>
          <p:cNvSpPr/>
          <p:nvPr/>
        </p:nvSpPr>
        <p:spPr>
          <a:xfrm>
            <a:off x="457200" y="26060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F3C0DFB-C716-BC27-0C3A-7122DA5FA44A}"/>
              </a:ext>
            </a:extLst>
          </p:cNvPr>
          <p:cNvSpPr/>
          <p:nvPr/>
        </p:nvSpPr>
        <p:spPr>
          <a:xfrm>
            <a:off x="8229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</a:rPr>
              <a:t>Product management</a:t>
            </a:r>
            <a:endParaRPr lang="en-US" sz="2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4F3EE750-C495-BCDF-D0C2-EEE6CD1CE103}"/>
              </a:ext>
            </a:extLst>
          </p:cNvPr>
          <p:cNvSpPr/>
          <p:nvPr/>
        </p:nvSpPr>
        <p:spPr>
          <a:xfrm>
            <a:off x="457200" y="320040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A7401E6-ACF4-9F95-0C51-43315F49E8AD}"/>
              </a:ext>
            </a:extLst>
          </p:cNvPr>
          <p:cNvSpPr/>
          <p:nvPr/>
        </p:nvSpPr>
        <p:spPr>
          <a:xfrm>
            <a:off x="822959" y="3200400"/>
            <a:ext cx="572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</a:rPr>
              <a:t>Stock management and real-time updates</a:t>
            </a:r>
            <a:endParaRPr lang="en-US" sz="2400" dirty="0"/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E2653126-C0D4-9E5E-4B30-A007945809AE}"/>
              </a:ext>
            </a:extLst>
          </p:cNvPr>
          <p:cNvSpPr/>
          <p:nvPr/>
        </p:nvSpPr>
        <p:spPr>
          <a:xfrm>
            <a:off x="457200" y="379476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CD4058E8-5E2D-5C92-C49B-78D6B23D1673}"/>
              </a:ext>
            </a:extLst>
          </p:cNvPr>
          <p:cNvSpPr/>
          <p:nvPr/>
        </p:nvSpPr>
        <p:spPr>
          <a:xfrm>
            <a:off x="8229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</a:rPr>
              <a:t>Product browsing and search</a:t>
            </a:r>
            <a:endParaRPr lang="en-US" sz="240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DF0AA03-6FE3-EC5A-8B11-2A07C34EA7B4}"/>
              </a:ext>
            </a:extLst>
          </p:cNvPr>
          <p:cNvSpPr/>
          <p:nvPr/>
        </p:nvSpPr>
        <p:spPr>
          <a:xfrm>
            <a:off x="8379824" y="4541129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A26BD-B473-8E9C-BCE3-2760D50F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B9FB19-9C8A-0559-ADB4-47461F235D86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02B67A-1F8A-1209-60ED-C657E1BEAD3E}"/>
              </a:ext>
            </a:extLst>
          </p:cNvPr>
          <p:cNvSpPr/>
          <p:nvPr/>
        </p:nvSpPr>
        <p:spPr>
          <a:xfrm>
            <a:off x="822960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5E3EEBA-09C8-2A7A-0AEF-0F041400DDC2}"/>
              </a:ext>
            </a:extLst>
          </p:cNvPr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2FC86CE-2058-4CA0-026B-120E91463E9E}"/>
              </a:ext>
            </a:extLst>
          </p:cNvPr>
          <p:cNvSpPr/>
          <p:nvPr/>
        </p:nvSpPr>
        <p:spPr>
          <a:xfrm>
            <a:off x="-7620" y="1"/>
            <a:ext cx="9144000" cy="51435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DF44782-5C98-4A6A-B267-7A5AAA42AAF1}"/>
              </a:ext>
            </a:extLst>
          </p:cNvPr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grpSp>
        <p:nvGrpSpPr>
          <p:cNvPr id="18" name="Group 16">
            <a:extLst>
              <a:ext uri="{FF2B5EF4-FFF2-40B4-BE49-F238E27FC236}">
                <a16:creationId xmlns:a16="http://schemas.microsoft.com/office/drawing/2014/main" id="{F81AFBAA-0A15-154B-725B-B575487083DD}"/>
              </a:ext>
            </a:extLst>
          </p:cNvPr>
          <p:cNvGrpSpPr/>
          <p:nvPr/>
        </p:nvGrpSpPr>
        <p:grpSpPr>
          <a:xfrm>
            <a:off x="158114" y="678179"/>
            <a:ext cx="2333623" cy="4401041"/>
            <a:chOff x="0" y="0"/>
            <a:chExt cx="1355771" cy="3308443"/>
          </a:xfrm>
        </p:grpSpPr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EFE6EF5-1398-D00F-5D8D-E3CD6E673FA4}"/>
                </a:ext>
              </a:extLst>
            </p:cNvPr>
            <p:cNvSpPr/>
            <p:nvPr/>
          </p:nvSpPr>
          <p:spPr>
            <a:xfrm>
              <a:off x="0" y="0"/>
              <a:ext cx="1355771" cy="3308443"/>
            </a:xfrm>
            <a:custGeom>
              <a:avLst/>
              <a:gdLst/>
              <a:ahLst/>
              <a:cxnLst/>
              <a:rect l="l" t="t" r="r" b="b"/>
              <a:pathLst>
                <a:path w="1355771" h="3308443">
                  <a:moveTo>
                    <a:pt x="113515" y="0"/>
                  </a:moveTo>
                  <a:lnTo>
                    <a:pt x="1242256" y="0"/>
                  </a:lnTo>
                  <a:cubicBezTo>
                    <a:pt x="1304948" y="0"/>
                    <a:pt x="1355771" y="50823"/>
                    <a:pt x="1355771" y="113515"/>
                  </a:cubicBezTo>
                  <a:lnTo>
                    <a:pt x="1355771" y="3194928"/>
                  </a:lnTo>
                  <a:cubicBezTo>
                    <a:pt x="1355771" y="3257621"/>
                    <a:pt x="1304948" y="3308443"/>
                    <a:pt x="1242256" y="3308443"/>
                  </a:cubicBezTo>
                  <a:lnTo>
                    <a:pt x="113515" y="3308443"/>
                  </a:lnTo>
                  <a:cubicBezTo>
                    <a:pt x="50823" y="3308443"/>
                    <a:pt x="0" y="3257621"/>
                    <a:pt x="0" y="3194928"/>
                  </a:cubicBezTo>
                  <a:lnTo>
                    <a:pt x="0" y="113515"/>
                  </a:lnTo>
                  <a:cubicBezTo>
                    <a:pt x="0" y="50823"/>
                    <a:pt x="50823" y="0"/>
                    <a:pt x="113515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  <p:txBody>
            <a:bodyPr/>
            <a:lstStyle/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endParaRPr lang="fr-FR" dirty="0"/>
            </a:p>
            <a:p>
              <a:r>
                <a:rPr lang="fr-FR" sz="1200" dirty="0">
                  <a:solidFill>
                    <a:schemeClr val="bg1"/>
                  </a:solidFill>
                </a:rPr>
                <a:t>The foundational language for structuring web pages.</a:t>
              </a: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Organizes content with tags for headings, paragraphs, images, and links.</a:t>
              </a:r>
              <a:br>
                <a:rPr lang="en-US" sz="1200" dirty="0">
                  <a:solidFill>
                    <a:schemeClr val="bg1"/>
                  </a:solidFill>
                </a:rPr>
              </a:br>
              <a:r>
                <a:rPr lang="en-US" sz="1200" dirty="0">
                  <a:solidFill>
                    <a:schemeClr val="bg1"/>
                  </a:solidFill>
                </a:rPr>
                <a:t>It is the foundation of every visible web interface in the browser.</a:t>
              </a:r>
            </a:p>
          </p:txBody>
        </p:sp>
        <p:sp>
          <p:nvSpPr>
            <p:cNvPr id="20" name="TextBox 18">
              <a:extLst>
                <a:ext uri="{FF2B5EF4-FFF2-40B4-BE49-F238E27FC236}">
                  <a16:creationId xmlns:a16="http://schemas.microsoft.com/office/drawing/2014/main" id="{4F4396E8-4C8C-4850-475C-C854C5659C60}"/>
                </a:ext>
              </a:extLst>
            </p:cNvPr>
            <p:cNvSpPr txBox="1"/>
            <p:nvPr/>
          </p:nvSpPr>
          <p:spPr>
            <a:xfrm>
              <a:off x="0" y="47625"/>
              <a:ext cx="1355771" cy="32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34"/>
                </a:lnSpc>
              </a:pPr>
              <a:endParaRPr/>
            </a:p>
          </p:txBody>
        </p:sp>
      </p:grpSp>
      <p:grpSp>
        <p:nvGrpSpPr>
          <p:cNvPr id="28" name="Group 16">
            <a:extLst>
              <a:ext uri="{FF2B5EF4-FFF2-40B4-BE49-F238E27FC236}">
                <a16:creationId xmlns:a16="http://schemas.microsoft.com/office/drawing/2014/main" id="{ABAFF036-989B-C8B6-CF81-FD8D0FFE82DF}"/>
              </a:ext>
            </a:extLst>
          </p:cNvPr>
          <p:cNvGrpSpPr/>
          <p:nvPr/>
        </p:nvGrpSpPr>
        <p:grpSpPr>
          <a:xfrm>
            <a:off x="5360333" y="657518"/>
            <a:ext cx="3873818" cy="4401040"/>
            <a:chOff x="0" y="0"/>
            <a:chExt cx="1355771" cy="3308443"/>
          </a:xfrm>
        </p:grpSpPr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C291EFF7-158E-CA0E-395A-AB00C48145CB}"/>
                </a:ext>
              </a:extLst>
            </p:cNvPr>
            <p:cNvSpPr/>
            <p:nvPr/>
          </p:nvSpPr>
          <p:spPr>
            <a:xfrm>
              <a:off x="0" y="0"/>
              <a:ext cx="1355771" cy="3308443"/>
            </a:xfrm>
            <a:custGeom>
              <a:avLst/>
              <a:gdLst/>
              <a:ahLst/>
              <a:cxnLst/>
              <a:rect l="l" t="t" r="r" b="b"/>
              <a:pathLst>
                <a:path w="1355771" h="3308443">
                  <a:moveTo>
                    <a:pt x="113515" y="0"/>
                  </a:moveTo>
                  <a:lnTo>
                    <a:pt x="1242256" y="0"/>
                  </a:lnTo>
                  <a:cubicBezTo>
                    <a:pt x="1304948" y="0"/>
                    <a:pt x="1355771" y="50823"/>
                    <a:pt x="1355771" y="113515"/>
                  </a:cubicBezTo>
                  <a:lnTo>
                    <a:pt x="1355771" y="3194928"/>
                  </a:lnTo>
                  <a:cubicBezTo>
                    <a:pt x="1355771" y="3257621"/>
                    <a:pt x="1304948" y="3308443"/>
                    <a:pt x="1242256" y="3308443"/>
                  </a:cubicBezTo>
                  <a:lnTo>
                    <a:pt x="113515" y="3308443"/>
                  </a:lnTo>
                  <a:cubicBezTo>
                    <a:pt x="50823" y="3308443"/>
                    <a:pt x="0" y="3257621"/>
                    <a:pt x="0" y="3194928"/>
                  </a:cubicBezTo>
                  <a:lnTo>
                    <a:pt x="0" y="113515"/>
                  </a:lnTo>
                  <a:cubicBezTo>
                    <a:pt x="0" y="50823"/>
                    <a:pt x="50823" y="0"/>
                    <a:pt x="113515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Box 18">
              <a:extLst>
                <a:ext uri="{FF2B5EF4-FFF2-40B4-BE49-F238E27FC236}">
                  <a16:creationId xmlns:a16="http://schemas.microsoft.com/office/drawing/2014/main" id="{CE461C6F-5926-0213-AF7E-EDDF9135A302}"/>
                </a:ext>
              </a:extLst>
            </p:cNvPr>
            <p:cNvSpPr txBox="1"/>
            <p:nvPr/>
          </p:nvSpPr>
          <p:spPr>
            <a:xfrm>
              <a:off x="0" y="47625"/>
              <a:ext cx="1355771" cy="32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34"/>
                </a:lnSpc>
              </a:pPr>
              <a:endParaRPr/>
            </a:p>
          </p:txBody>
        </p:sp>
      </p:grpSp>
      <p:grpSp>
        <p:nvGrpSpPr>
          <p:cNvPr id="34" name="Group 16">
            <a:extLst>
              <a:ext uri="{FF2B5EF4-FFF2-40B4-BE49-F238E27FC236}">
                <a16:creationId xmlns:a16="http://schemas.microsoft.com/office/drawing/2014/main" id="{FF165F1F-82E6-9D00-5F3E-F4CDA7B0381B}"/>
              </a:ext>
            </a:extLst>
          </p:cNvPr>
          <p:cNvGrpSpPr/>
          <p:nvPr/>
        </p:nvGrpSpPr>
        <p:grpSpPr>
          <a:xfrm>
            <a:off x="2720343" y="693419"/>
            <a:ext cx="2425063" cy="4401040"/>
            <a:chOff x="0" y="0"/>
            <a:chExt cx="1355771" cy="3308443"/>
          </a:xfrm>
        </p:grpSpPr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93DA6245-98FC-117A-0A01-32FDD3B7A688}"/>
                </a:ext>
              </a:extLst>
            </p:cNvPr>
            <p:cNvSpPr/>
            <p:nvPr/>
          </p:nvSpPr>
          <p:spPr>
            <a:xfrm>
              <a:off x="0" y="0"/>
              <a:ext cx="1355771" cy="3308443"/>
            </a:xfrm>
            <a:custGeom>
              <a:avLst/>
              <a:gdLst/>
              <a:ahLst/>
              <a:cxnLst/>
              <a:rect l="l" t="t" r="r" b="b"/>
              <a:pathLst>
                <a:path w="1355771" h="3308443">
                  <a:moveTo>
                    <a:pt x="113515" y="0"/>
                  </a:moveTo>
                  <a:lnTo>
                    <a:pt x="1242256" y="0"/>
                  </a:lnTo>
                  <a:cubicBezTo>
                    <a:pt x="1304948" y="0"/>
                    <a:pt x="1355771" y="50823"/>
                    <a:pt x="1355771" y="113515"/>
                  </a:cubicBezTo>
                  <a:lnTo>
                    <a:pt x="1355771" y="3194928"/>
                  </a:lnTo>
                  <a:cubicBezTo>
                    <a:pt x="1355771" y="3257621"/>
                    <a:pt x="1304948" y="3308443"/>
                    <a:pt x="1242256" y="3308443"/>
                  </a:cubicBezTo>
                  <a:lnTo>
                    <a:pt x="113515" y="3308443"/>
                  </a:lnTo>
                  <a:cubicBezTo>
                    <a:pt x="50823" y="3308443"/>
                    <a:pt x="0" y="3257621"/>
                    <a:pt x="0" y="3194928"/>
                  </a:cubicBezTo>
                  <a:lnTo>
                    <a:pt x="0" y="113515"/>
                  </a:lnTo>
                  <a:cubicBezTo>
                    <a:pt x="0" y="50823"/>
                    <a:pt x="50823" y="0"/>
                    <a:pt x="113515" y="0"/>
                  </a:cubicBez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Box 18">
              <a:extLst>
                <a:ext uri="{FF2B5EF4-FFF2-40B4-BE49-F238E27FC236}">
                  <a16:creationId xmlns:a16="http://schemas.microsoft.com/office/drawing/2014/main" id="{281E38B7-8D30-6624-E5BD-0A2F245F95A2}"/>
                </a:ext>
              </a:extLst>
            </p:cNvPr>
            <p:cNvSpPr txBox="1"/>
            <p:nvPr/>
          </p:nvSpPr>
          <p:spPr>
            <a:xfrm>
              <a:off x="0" y="47625"/>
              <a:ext cx="1355771" cy="3260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134"/>
                </a:lnSpc>
              </a:pPr>
              <a:endParaRPr/>
            </a:p>
          </p:txBody>
        </p:sp>
      </p:grpSp>
      <p:pic>
        <p:nvPicPr>
          <p:cNvPr id="1026" name="Picture 2" descr="HTML - Wikipedia">
            <a:extLst>
              <a:ext uri="{FF2B5EF4-FFF2-40B4-BE49-F238E27FC236}">
                <a16:creationId xmlns:a16="http://schemas.microsoft.com/office/drawing/2014/main" id="{A6F0A2C2-8703-737F-FF78-2A77C5D69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324" y="835343"/>
            <a:ext cx="2001202" cy="1736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sign for Open Source: phpMyAdmin Brand Refresh | by Adriano Cahete |  Medium">
            <a:extLst>
              <a:ext uri="{FF2B5EF4-FFF2-40B4-BE49-F238E27FC236}">
                <a16:creationId xmlns:a16="http://schemas.microsoft.com/office/drawing/2014/main" id="{A2038E70-6108-C0D5-8AD6-7C9187208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182" y="441961"/>
            <a:ext cx="1882140" cy="174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2D9DBE8-0C2C-DD70-D459-594C4FB7C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883" y="837584"/>
            <a:ext cx="2066310" cy="1906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ySQL Database Consulting, Deployment &amp; Managed Support Services in US &amp;  India">
            <a:extLst>
              <a:ext uri="{FF2B5EF4-FFF2-40B4-BE49-F238E27FC236}">
                <a16:creationId xmlns:a16="http://schemas.microsoft.com/office/drawing/2014/main" id="{20B3115C-CD08-36B5-8DFF-F698B9665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863" y="717291"/>
            <a:ext cx="1839000" cy="14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ZoneTexte 39">
            <a:extLst>
              <a:ext uri="{FF2B5EF4-FFF2-40B4-BE49-F238E27FC236}">
                <a16:creationId xmlns:a16="http://schemas.microsoft.com/office/drawing/2014/main" id="{6515FBF6-2F76-1F45-083D-D845BE90F692}"/>
              </a:ext>
            </a:extLst>
          </p:cNvPr>
          <p:cNvSpPr txBox="1"/>
          <p:nvPr/>
        </p:nvSpPr>
        <p:spPr>
          <a:xfrm>
            <a:off x="5478783" y="2486144"/>
            <a:ext cx="343662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phpMyAdmin is the graphical interface that simplifies database management.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It works with </a:t>
            </a:r>
            <a:r>
              <a:rPr lang="en-US" b="1" dirty="0">
                <a:solidFill>
                  <a:schemeClr val="bg1"/>
                </a:solidFill>
              </a:rPr>
              <a:t>MySQL</a:t>
            </a:r>
            <a:r>
              <a:rPr lang="en-US" dirty="0">
                <a:solidFill>
                  <a:schemeClr val="bg1"/>
                </a:solidFill>
              </a:rPr>
              <a:t>, a relational database management system.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Together, they allow easy creation, modification, and querying of data.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9A896E2-4399-DBFE-8845-384726513D15}"/>
              </a:ext>
            </a:extLst>
          </p:cNvPr>
          <p:cNvSpPr txBox="1"/>
          <p:nvPr/>
        </p:nvSpPr>
        <p:spPr>
          <a:xfrm>
            <a:off x="2651760" y="2824698"/>
            <a:ext cx="235043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 server-side scripting language for building dynamic websites.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Handles forms, sessions, and database communication.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Commonly paired with MySQL for full-stack web applications.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26D87679-2064-2AC9-F253-A1F0DDA4462A}"/>
              </a:ext>
            </a:extLst>
          </p:cNvPr>
          <p:cNvSpPr/>
          <p:nvPr/>
        </p:nvSpPr>
        <p:spPr>
          <a:xfrm>
            <a:off x="8379824" y="4541129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873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898B1-12AD-08AC-2429-58160E3E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B2AD20-7AF5-DA96-D169-3234269D9827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F791F82-B70B-722E-F7C2-D052271F3576}"/>
              </a:ext>
            </a:extLst>
          </p:cNvPr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F72616-9A0E-93D3-22EA-75ACC9CA31F1}"/>
              </a:ext>
            </a:extLst>
          </p:cNvPr>
          <p:cNvSpPr/>
          <p:nvPr/>
        </p:nvSpPr>
        <p:spPr>
          <a:xfrm>
            <a:off x="8229600" y="3177540"/>
            <a:ext cx="1645920" cy="164592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56050E4-569F-EE08-777A-55DEF0D756B6}"/>
              </a:ext>
            </a:extLst>
          </p:cNvPr>
          <p:cNvSpPr/>
          <p:nvPr/>
        </p:nvSpPr>
        <p:spPr>
          <a:xfrm>
            <a:off x="685800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909940-EF52-9213-94E1-DCFCCFAC6CB9}"/>
              </a:ext>
            </a:extLst>
          </p:cNvPr>
          <p:cNvSpPr/>
          <p:nvPr/>
        </p:nvSpPr>
        <p:spPr>
          <a:xfrm>
            <a:off x="830580" y="158932"/>
            <a:ext cx="7132320" cy="8469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ECD24-54F3-0FBD-6FE4-8E00F16436B4}"/>
              </a:ext>
            </a:extLst>
          </p:cNvPr>
          <p:cNvSpPr/>
          <p:nvPr/>
        </p:nvSpPr>
        <p:spPr>
          <a:xfrm>
            <a:off x="830580" y="1404257"/>
            <a:ext cx="3277689" cy="3285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9B86AC-4EEA-6F4A-35EB-FA6EF1BA43F4}"/>
              </a:ext>
            </a:extLst>
          </p:cNvPr>
          <p:cNvSpPr/>
          <p:nvPr/>
        </p:nvSpPr>
        <p:spPr>
          <a:xfrm>
            <a:off x="5412703" y="1404256"/>
            <a:ext cx="3277689" cy="3285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u="sng" dirty="0"/>
              <a:t>id </a:t>
            </a:r>
            <a:r>
              <a:rPr lang="fr-FR" sz="1400" dirty="0"/>
              <a:t>INT UNSIGNED PRIMARY KEY,</a:t>
            </a:r>
          </a:p>
          <a:p>
            <a:r>
              <a:rPr lang="fr-FR" sz="1400" u="sng" dirty="0" err="1"/>
              <a:t>name</a:t>
            </a:r>
            <a:r>
              <a:rPr lang="fr-FR" sz="1400" u="sng" dirty="0"/>
              <a:t> </a:t>
            </a:r>
            <a:r>
              <a:rPr lang="fr-FR" sz="1400" dirty="0"/>
              <a:t>VARCHAR(100) </a:t>
            </a:r>
          </a:p>
          <a:p>
            <a:r>
              <a:rPr lang="fr-FR" sz="1400" u="sng" dirty="0"/>
              <a:t>description </a:t>
            </a:r>
            <a:r>
              <a:rPr lang="fr-FR" sz="1400" dirty="0"/>
              <a:t>VARCHAR(255) </a:t>
            </a:r>
          </a:p>
          <a:p>
            <a:r>
              <a:rPr lang="fr-FR" sz="1400" u="sng" dirty="0" err="1"/>
              <a:t>created_at</a:t>
            </a:r>
            <a:r>
              <a:rPr lang="fr-FR" sz="1400" u="sng" dirty="0"/>
              <a:t> </a:t>
            </a:r>
            <a:r>
              <a:rPr lang="fr-FR" sz="1400" dirty="0"/>
              <a:t>DATETIME CURRENT_TIMESTAMP,</a:t>
            </a:r>
          </a:p>
          <a:p>
            <a:r>
              <a:rPr lang="fr-FR" sz="1400" dirty="0"/>
              <a:t> </a:t>
            </a:r>
            <a:r>
              <a:rPr lang="fr-FR" sz="1400" u="sng" dirty="0" err="1"/>
              <a:t>updated_at</a:t>
            </a:r>
            <a:r>
              <a:rPr lang="fr-FR" sz="1400" u="sng" dirty="0"/>
              <a:t> </a:t>
            </a:r>
            <a:r>
              <a:rPr lang="fr-FR" sz="1400" dirty="0"/>
              <a:t>DATETIME NULL DEFAULT NULL ON UPDATE CURRENT_TIMESTAMP,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60F4E-CAC1-FBDE-135A-88554F18F44B}"/>
              </a:ext>
            </a:extLst>
          </p:cNvPr>
          <p:cNvSpPr/>
          <p:nvPr/>
        </p:nvSpPr>
        <p:spPr>
          <a:xfrm>
            <a:off x="830580" y="1404257"/>
            <a:ext cx="3277689" cy="56170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Products</a:t>
            </a:r>
            <a:r>
              <a:rPr lang="fr-FR" dirty="0"/>
              <a:t>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045A39-45BD-986B-4D87-2DC2EC5C759A}"/>
              </a:ext>
            </a:extLst>
          </p:cNvPr>
          <p:cNvSpPr/>
          <p:nvPr/>
        </p:nvSpPr>
        <p:spPr>
          <a:xfrm>
            <a:off x="5412702" y="1404257"/>
            <a:ext cx="3277690" cy="5617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Categories</a:t>
            </a:r>
            <a:r>
              <a:rPr lang="fr-FR" dirty="0"/>
              <a:t> table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220DCC3-3FC5-9258-A5C2-B86DE4C8E9FB}"/>
              </a:ext>
            </a:extLst>
          </p:cNvPr>
          <p:cNvSpPr txBox="1"/>
          <p:nvPr/>
        </p:nvSpPr>
        <p:spPr>
          <a:xfrm>
            <a:off x="969264" y="2051261"/>
            <a:ext cx="44434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i="1" u="sng" dirty="0"/>
              <a:t>id</a:t>
            </a:r>
            <a:r>
              <a:rPr lang="fr-FR" sz="1400" dirty="0"/>
              <a:t> INT UNSIGNED </a:t>
            </a:r>
            <a:r>
              <a:rPr lang="fr-FR" sz="1400" dirty="0" err="1"/>
              <a:t>primary</a:t>
            </a:r>
            <a:r>
              <a:rPr lang="fr-FR" sz="1400" dirty="0"/>
              <a:t> key</a:t>
            </a:r>
          </a:p>
          <a:p>
            <a:r>
              <a:rPr lang="fr-FR" sz="1400" u="sng" dirty="0" err="1"/>
              <a:t>reference</a:t>
            </a:r>
            <a:r>
              <a:rPr lang="fr-FR" sz="1400" dirty="0"/>
              <a:t> VARCHAR(50)     </a:t>
            </a:r>
          </a:p>
          <a:p>
            <a:r>
              <a:rPr lang="fr-FR" sz="1400" u="sng" dirty="0" err="1"/>
              <a:t>designation</a:t>
            </a:r>
            <a:r>
              <a:rPr lang="fr-FR" sz="1400" dirty="0"/>
              <a:t> VARCHAR(150)     </a:t>
            </a:r>
          </a:p>
          <a:p>
            <a:r>
              <a:rPr lang="fr-FR" sz="1400" u="sng" dirty="0"/>
              <a:t>description</a:t>
            </a:r>
            <a:r>
              <a:rPr lang="fr-FR" sz="1400" dirty="0"/>
              <a:t> TEXT NULL,</a:t>
            </a:r>
          </a:p>
          <a:p>
            <a:r>
              <a:rPr lang="fr-FR" sz="1400" u="sng" dirty="0"/>
              <a:t>brand</a:t>
            </a:r>
            <a:r>
              <a:rPr lang="fr-FR" sz="1400" dirty="0"/>
              <a:t> VARCHAR(100)     </a:t>
            </a:r>
          </a:p>
          <a:p>
            <a:r>
              <a:rPr lang="fr-FR" sz="1400" u="sng" dirty="0" err="1"/>
              <a:t>price</a:t>
            </a:r>
            <a:r>
              <a:rPr lang="fr-FR" sz="1400" dirty="0"/>
              <a:t> DECIMAL(10,2)     </a:t>
            </a:r>
          </a:p>
          <a:p>
            <a:r>
              <a:rPr lang="fr-FR" sz="1400" u="sng" dirty="0" err="1"/>
              <a:t>quantity</a:t>
            </a:r>
            <a:r>
              <a:rPr lang="fr-FR" sz="1400" dirty="0"/>
              <a:t> INT NOT NULL</a:t>
            </a:r>
          </a:p>
          <a:p>
            <a:r>
              <a:rPr lang="fr-FR" sz="1400" u="sng" dirty="0" err="1"/>
              <a:t>photo_path</a:t>
            </a:r>
            <a:r>
              <a:rPr lang="fr-FR" sz="1400" u="sng" dirty="0"/>
              <a:t> </a:t>
            </a:r>
            <a:r>
              <a:rPr lang="fr-FR" sz="1400" dirty="0"/>
              <a:t>VARCHAR(255)</a:t>
            </a:r>
          </a:p>
          <a:p>
            <a:r>
              <a:rPr lang="fr-FR" sz="1400" u="sng" dirty="0" err="1"/>
              <a:t>category_id</a:t>
            </a:r>
            <a:r>
              <a:rPr lang="fr-FR" sz="1400" u="sng" dirty="0"/>
              <a:t> </a:t>
            </a:r>
            <a:r>
              <a:rPr lang="fr-FR" sz="1400" dirty="0"/>
              <a:t>INT UNSIGNED     </a:t>
            </a:r>
          </a:p>
          <a:p>
            <a:r>
              <a:rPr lang="fr-FR" sz="1400" u="sng" dirty="0" err="1"/>
              <a:t>created_at</a:t>
            </a:r>
            <a:r>
              <a:rPr lang="fr-FR" sz="1400" u="sng" dirty="0"/>
              <a:t> </a:t>
            </a:r>
            <a:r>
              <a:rPr lang="fr-FR" sz="1400" dirty="0"/>
              <a:t>DATETIME (date)</a:t>
            </a:r>
          </a:p>
          <a:p>
            <a:r>
              <a:rPr lang="fr-FR" sz="1400" u="sng" dirty="0" err="1"/>
              <a:t>updated_at</a:t>
            </a:r>
            <a:r>
              <a:rPr lang="fr-FR" sz="1400" u="sng" dirty="0"/>
              <a:t> </a:t>
            </a:r>
            <a:r>
              <a:rPr lang="fr-FR" sz="1400" dirty="0"/>
              <a:t>DATETIME NULL DEFAULT </a:t>
            </a:r>
          </a:p>
          <a:p>
            <a:r>
              <a:rPr lang="fr-FR" sz="1400" dirty="0"/>
              <a:t>NULL ON UPDATE CURRENT_TIMESTAMP</a:t>
            </a:r>
          </a:p>
          <a:p>
            <a:br>
              <a:rPr lang="fr-FR" sz="1400" dirty="0"/>
            </a:br>
            <a:endParaRPr lang="fr-FR" sz="140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1C85167-0293-E52D-2A2E-D7F3E571577F}"/>
              </a:ext>
            </a:extLst>
          </p:cNvPr>
          <p:cNvSpPr/>
          <p:nvPr/>
        </p:nvSpPr>
        <p:spPr>
          <a:xfrm>
            <a:off x="8585564" y="4743590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4419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A2B5AB-A9AC-649C-11C8-A46299E2C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AE9624-0DB6-4A45-2F99-D5CFBFD3788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8BF3B16-9AB0-6DB3-ED90-CD47E06C8ED6}"/>
              </a:ext>
            </a:extLst>
          </p:cNvPr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387DDC9-1920-A43C-845B-7AF2B0EC0018}"/>
              </a:ext>
            </a:extLst>
          </p:cNvPr>
          <p:cNvSpPr/>
          <p:nvPr/>
        </p:nvSpPr>
        <p:spPr>
          <a:xfrm>
            <a:off x="8222740" y="3177540"/>
            <a:ext cx="1645920" cy="164592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983438-4692-BE1F-1429-DD3424274435}"/>
              </a:ext>
            </a:extLst>
          </p:cNvPr>
          <p:cNvSpPr/>
          <p:nvPr/>
        </p:nvSpPr>
        <p:spPr>
          <a:xfrm>
            <a:off x="6858000" y="4480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5452AF-4211-F135-40D8-07207C8150C8}"/>
              </a:ext>
            </a:extLst>
          </p:cNvPr>
          <p:cNvSpPr/>
          <p:nvPr/>
        </p:nvSpPr>
        <p:spPr>
          <a:xfrm>
            <a:off x="830580" y="158932"/>
            <a:ext cx="7132320" cy="84690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EB048-8C99-74D6-9C10-D0FD84365E1F}"/>
              </a:ext>
            </a:extLst>
          </p:cNvPr>
          <p:cNvSpPr/>
          <p:nvPr/>
        </p:nvSpPr>
        <p:spPr>
          <a:xfrm>
            <a:off x="391179" y="1404255"/>
            <a:ext cx="2588731" cy="3285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4DE580-950C-32A5-C695-D75AAB3C7537}"/>
              </a:ext>
            </a:extLst>
          </p:cNvPr>
          <p:cNvSpPr/>
          <p:nvPr/>
        </p:nvSpPr>
        <p:spPr>
          <a:xfrm>
            <a:off x="3268220" y="1378131"/>
            <a:ext cx="2762033" cy="3285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u="sng" dirty="0"/>
              <a:t>id </a:t>
            </a:r>
            <a:r>
              <a:rPr lang="en-US" sz="1400" dirty="0"/>
              <a:t>INT UNSIGNED PRIMARY KEY</a:t>
            </a:r>
          </a:p>
          <a:p>
            <a:r>
              <a:rPr lang="en-US" sz="1400" u="sng" dirty="0" err="1"/>
              <a:t>sale_id</a:t>
            </a:r>
            <a:r>
              <a:rPr lang="en-US" sz="1400" u="sng" dirty="0"/>
              <a:t> </a:t>
            </a:r>
            <a:r>
              <a:rPr lang="en-US" sz="1400" dirty="0"/>
              <a:t>INT UNSIGNED </a:t>
            </a:r>
          </a:p>
          <a:p>
            <a:r>
              <a:rPr lang="en-US" sz="1400" u="sng" dirty="0" err="1"/>
              <a:t>product_id</a:t>
            </a:r>
            <a:r>
              <a:rPr lang="en-US" sz="1400" u="sng" dirty="0"/>
              <a:t> </a:t>
            </a:r>
            <a:r>
              <a:rPr lang="en-US" sz="1400" dirty="0"/>
              <a:t>INT UNSIGNED </a:t>
            </a:r>
          </a:p>
          <a:p>
            <a:r>
              <a:rPr lang="en-US" sz="1400" u="sng" dirty="0"/>
              <a:t>quantity</a:t>
            </a:r>
            <a:r>
              <a:rPr lang="en-US" sz="1400" dirty="0"/>
              <a:t> INT </a:t>
            </a:r>
          </a:p>
          <a:p>
            <a:r>
              <a:rPr lang="en-US" sz="1400" u="sng" dirty="0" err="1"/>
              <a:t>unit_price</a:t>
            </a:r>
            <a:r>
              <a:rPr lang="en-US" sz="1400" u="sng" dirty="0"/>
              <a:t> </a:t>
            </a:r>
            <a:r>
              <a:rPr lang="en-US" sz="1400" dirty="0"/>
              <a:t>DECIMAL(10,2) </a:t>
            </a:r>
          </a:p>
          <a:p>
            <a:r>
              <a:rPr lang="en-US" sz="1400" u="sng" dirty="0" err="1"/>
              <a:t>line_total</a:t>
            </a:r>
            <a:r>
              <a:rPr lang="en-US" sz="1400" u="sng" dirty="0"/>
              <a:t> </a:t>
            </a:r>
            <a:r>
              <a:rPr lang="en-US" sz="1400" dirty="0"/>
              <a:t>DECIMAL(12,2)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A054E1-E71C-BB53-DC6C-5CFF8B7E6C86}"/>
              </a:ext>
            </a:extLst>
          </p:cNvPr>
          <p:cNvSpPr/>
          <p:nvPr/>
        </p:nvSpPr>
        <p:spPr>
          <a:xfrm>
            <a:off x="391179" y="1404258"/>
            <a:ext cx="2588731" cy="56170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Sales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1C8AEE-54B7-F481-1575-AC438A7A71FF}"/>
              </a:ext>
            </a:extLst>
          </p:cNvPr>
          <p:cNvSpPr/>
          <p:nvPr/>
        </p:nvSpPr>
        <p:spPr>
          <a:xfrm>
            <a:off x="3268220" y="1378131"/>
            <a:ext cx="2762033" cy="5617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sale_items</a:t>
            </a:r>
            <a:r>
              <a:rPr lang="fr-FR" dirty="0"/>
              <a:t> table</a:t>
            </a:r>
          </a:p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1BFE1F7-9BE7-B10C-B0E7-85B253BC9099}"/>
              </a:ext>
            </a:extLst>
          </p:cNvPr>
          <p:cNvSpPr txBox="1"/>
          <p:nvPr/>
        </p:nvSpPr>
        <p:spPr>
          <a:xfrm>
            <a:off x="389598" y="2135088"/>
            <a:ext cx="251307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u="sng" dirty="0"/>
              <a:t>id</a:t>
            </a:r>
            <a:r>
              <a:rPr lang="fr-FR" sz="1400" dirty="0"/>
              <a:t> INT UNSIGNED PRIMARY KEY, </a:t>
            </a:r>
            <a:r>
              <a:rPr lang="fr-FR" sz="1400" u="sng" dirty="0" err="1"/>
              <a:t>sale_date</a:t>
            </a:r>
            <a:r>
              <a:rPr lang="fr-FR" sz="1400" u="sng" dirty="0"/>
              <a:t> </a:t>
            </a:r>
            <a:r>
              <a:rPr lang="fr-FR" sz="1400" dirty="0"/>
              <a:t>DATETIME CURRENT_TIMESTAMP</a:t>
            </a:r>
          </a:p>
          <a:p>
            <a:r>
              <a:rPr lang="fr-FR" sz="1400" u="sng" dirty="0" err="1"/>
              <a:t>total_amount</a:t>
            </a:r>
            <a:r>
              <a:rPr lang="fr-FR" sz="1400" u="sng" dirty="0"/>
              <a:t> </a:t>
            </a:r>
            <a:r>
              <a:rPr lang="fr-FR" sz="1400" dirty="0"/>
              <a:t>DECIMAL(12,2)</a:t>
            </a:r>
          </a:p>
          <a:p>
            <a:r>
              <a:rPr lang="fr-FR" sz="1400" u="sng" dirty="0" err="1"/>
              <a:t>created_by</a:t>
            </a:r>
            <a:r>
              <a:rPr lang="fr-FR" sz="1400" u="sng" dirty="0"/>
              <a:t> </a:t>
            </a:r>
            <a:r>
              <a:rPr lang="fr-FR" sz="1400" dirty="0"/>
              <a:t>VARCHAR(100) NULL,</a:t>
            </a:r>
          </a:p>
          <a:p>
            <a:r>
              <a:rPr lang="fr-FR" sz="1400" u="sng" dirty="0" err="1"/>
              <a:t>created_at</a:t>
            </a:r>
            <a:r>
              <a:rPr lang="fr-FR" sz="1400" u="sng" dirty="0"/>
              <a:t> </a:t>
            </a:r>
            <a:r>
              <a:rPr lang="fr-FR" sz="1400" dirty="0"/>
              <a:t>DATETIME DEFAULT CURRENT_TIMESTAMP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17180-847A-4C82-FA2C-824EDB6273BE}"/>
              </a:ext>
            </a:extLst>
          </p:cNvPr>
          <p:cNvSpPr/>
          <p:nvPr/>
        </p:nvSpPr>
        <p:spPr>
          <a:xfrm>
            <a:off x="6314147" y="1404259"/>
            <a:ext cx="2762033" cy="328530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id INT UNSIGNED AUTO_INCREMENT PRIMARY KEY,</a:t>
            </a:r>
          </a:p>
          <a:p>
            <a:r>
              <a:rPr lang="fr-FR" sz="1400" dirty="0"/>
              <a:t>    </a:t>
            </a:r>
          </a:p>
          <a:p>
            <a:endParaRPr lang="fr-FR" sz="1400" dirty="0"/>
          </a:p>
          <a:p>
            <a:endParaRPr lang="fr-FR" sz="1400" dirty="0"/>
          </a:p>
          <a:p>
            <a:r>
              <a:rPr lang="fr-FR" sz="1400" u="sng" dirty="0" err="1"/>
              <a:t>product_id</a:t>
            </a:r>
            <a:r>
              <a:rPr lang="fr-FR" sz="1400" u="sng" dirty="0"/>
              <a:t> </a:t>
            </a:r>
            <a:r>
              <a:rPr lang="fr-FR" sz="1400" dirty="0"/>
              <a:t>INT UNSIGNED </a:t>
            </a:r>
          </a:p>
          <a:p>
            <a:r>
              <a:rPr lang="fr-FR" sz="1400" u="sng" dirty="0" err="1"/>
              <a:t>movement_type</a:t>
            </a:r>
            <a:r>
              <a:rPr lang="fr-FR" sz="1400" u="sng" dirty="0"/>
              <a:t> </a:t>
            </a:r>
            <a:r>
              <a:rPr lang="fr-FR" sz="1400" dirty="0"/>
              <a:t>ENUM('IN', 'OUT', 'ADJUST') </a:t>
            </a:r>
          </a:p>
          <a:p>
            <a:r>
              <a:rPr lang="fr-FR" sz="1400" dirty="0"/>
              <a:t> </a:t>
            </a:r>
            <a:r>
              <a:rPr lang="fr-FR" sz="1400" u="sng" dirty="0" err="1"/>
              <a:t>quantity</a:t>
            </a:r>
            <a:r>
              <a:rPr lang="fr-FR" sz="1400" dirty="0"/>
              <a:t> INT NOT NULL,</a:t>
            </a:r>
          </a:p>
          <a:p>
            <a:r>
              <a:rPr lang="fr-FR" sz="1400" u="sng" dirty="0" err="1"/>
              <a:t>reason</a:t>
            </a:r>
            <a:r>
              <a:rPr lang="fr-FR" sz="1400" dirty="0"/>
              <a:t> VARCHAR(255) NULL,</a:t>
            </a:r>
          </a:p>
          <a:p>
            <a:r>
              <a:rPr lang="fr-FR" sz="1400" u="sng" dirty="0" err="1"/>
              <a:t>related_sale_item_</a:t>
            </a:r>
            <a:r>
              <a:rPr lang="fr-FR" sz="1400" dirty="0" err="1"/>
              <a:t>id</a:t>
            </a:r>
            <a:r>
              <a:rPr lang="fr-FR" sz="1400" dirty="0"/>
              <a:t> INT UNSIGNED </a:t>
            </a:r>
          </a:p>
          <a:p>
            <a:r>
              <a:rPr lang="fr-FR" sz="1400" u="sng" dirty="0" err="1"/>
              <a:t>created_at</a:t>
            </a:r>
            <a:r>
              <a:rPr lang="fr-FR" sz="1400" u="sng" dirty="0"/>
              <a:t> </a:t>
            </a:r>
            <a:r>
              <a:rPr lang="fr-FR" sz="1400" dirty="0"/>
              <a:t>DATETIME DEFAULT CURRENT_TIMESTAMP,</a:t>
            </a:r>
          </a:p>
          <a:p>
            <a:br>
              <a:rPr lang="fr-FR" sz="1400" dirty="0"/>
            </a:br>
            <a:endParaRPr lang="fr-FR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2A6D5-E2D6-2B88-1E6F-4EFF11ACFB30}"/>
              </a:ext>
            </a:extLst>
          </p:cNvPr>
          <p:cNvSpPr/>
          <p:nvPr/>
        </p:nvSpPr>
        <p:spPr>
          <a:xfrm>
            <a:off x="6314147" y="1404260"/>
            <a:ext cx="2762033" cy="56170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Stock </a:t>
            </a:r>
            <a:r>
              <a:rPr lang="fr-FR" dirty="0" err="1"/>
              <a:t>movements</a:t>
            </a:r>
            <a:r>
              <a:rPr lang="fr-FR" dirty="0"/>
              <a:t> table</a:t>
            </a:r>
          </a:p>
          <a:p>
            <a:pPr algn="ctr"/>
            <a:endParaRPr lang="fr-FR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FF2E58D-E466-EE21-36CF-BC3EC0FD2912}"/>
              </a:ext>
            </a:extLst>
          </p:cNvPr>
          <p:cNvSpPr/>
          <p:nvPr/>
        </p:nvSpPr>
        <p:spPr>
          <a:xfrm>
            <a:off x="8561450" y="4724009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3822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A41F-2680-776E-137A-B908CFE76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2">
            <a:extLst>
              <a:ext uri="{FF2B5EF4-FFF2-40B4-BE49-F238E27FC236}">
                <a16:creationId xmlns:a16="http://schemas.microsoft.com/office/drawing/2014/main" id="{A598ED4F-9718-3DC8-57A4-43DC91CC4CEC}"/>
              </a:ext>
            </a:extLst>
          </p:cNvPr>
          <p:cNvSpPr/>
          <p:nvPr/>
        </p:nvSpPr>
        <p:spPr>
          <a:xfrm>
            <a:off x="-58058" y="-26561"/>
            <a:ext cx="9202058" cy="5170061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04" r="-220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8E771493-057D-D9BA-4E3A-2502887B238B}"/>
              </a:ext>
            </a:extLst>
          </p:cNvPr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Page Structure:</a:t>
            </a:r>
            <a:endParaRPr lang="en-US" sz="1300" dirty="0"/>
          </a:p>
        </p:txBody>
      </p:sp>
      <p:sp>
        <p:nvSpPr>
          <p:cNvPr id="4" name="Shape 24">
            <a:extLst>
              <a:ext uri="{FF2B5EF4-FFF2-40B4-BE49-F238E27FC236}">
                <a16:creationId xmlns:a16="http://schemas.microsoft.com/office/drawing/2014/main" id="{D794979E-9FCC-A787-A372-44536BBA141F}"/>
              </a:ext>
            </a:extLst>
          </p:cNvPr>
          <p:cNvSpPr/>
          <p:nvPr/>
        </p:nvSpPr>
        <p:spPr>
          <a:xfrm>
            <a:off x="5760720" y="1463040"/>
            <a:ext cx="310896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DC3551C6-28DC-68FF-FA32-AAB4B9FE6639}"/>
              </a:ext>
            </a:extLst>
          </p:cNvPr>
          <p:cNvSpPr/>
          <p:nvPr/>
        </p:nvSpPr>
        <p:spPr>
          <a:xfrm>
            <a:off x="5897880" y="1508760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Navigation Bar</a:t>
            </a:r>
            <a:endParaRPr lang="en-US" sz="1100" dirty="0"/>
          </a:p>
        </p:txBody>
      </p:sp>
      <p:sp>
        <p:nvSpPr>
          <p:cNvPr id="6" name="Text 27">
            <a:extLst>
              <a:ext uri="{FF2B5EF4-FFF2-40B4-BE49-F238E27FC236}">
                <a16:creationId xmlns:a16="http://schemas.microsoft.com/office/drawing/2014/main" id="{C09A4532-A483-BE84-A677-E31614A115C8}"/>
              </a:ext>
            </a:extLst>
          </p:cNvPr>
          <p:cNvSpPr/>
          <p:nvPr/>
        </p:nvSpPr>
        <p:spPr>
          <a:xfrm>
            <a:off x="5897880" y="1847088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Store name + main navigation links</a:t>
            </a:r>
          </a:p>
        </p:txBody>
      </p:sp>
      <p:sp>
        <p:nvSpPr>
          <p:cNvPr id="7" name="Shape 28">
            <a:extLst>
              <a:ext uri="{FF2B5EF4-FFF2-40B4-BE49-F238E27FC236}">
                <a16:creationId xmlns:a16="http://schemas.microsoft.com/office/drawing/2014/main" id="{7032575E-A29D-FD75-4F4A-A5D7CD5D3347}"/>
              </a:ext>
            </a:extLst>
          </p:cNvPr>
          <p:cNvSpPr/>
          <p:nvPr/>
        </p:nvSpPr>
        <p:spPr>
          <a:xfrm>
            <a:off x="5760720" y="2331720"/>
            <a:ext cx="310896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30">
            <a:extLst>
              <a:ext uri="{FF2B5EF4-FFF2-40B4-BE49-F238E27FC236}">
                <a16:creationId xmlns:a16="http://schemas.microsoft.com/office/drawing/2014/main" id="{66934A3F-1F6F-799B-668E-1ED5B3568D62}"/>
              </a:ext>
            </a:extLst>
          </p:cNvPr>
          <p:cNvSpPr/>
          <p:nvPr/>
        </p:nvSpPr>
        <p:spPr>
          <a:xfrm>
            <a:off x="5897880" y="2377440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Side Menu</a:t>
            </a:r>
            <a:endParaRPr lang="en-US" sz="1100" dirty="0"/>
          </a:p>
        </p:txBody>
      </p:sp>
      <p:sp>
        <p:nvSpPr>
          <p:cNvPr id="9" name="Text 31">
            <a:extLst>
              <a:ext uri="{FF2B5EF4-FFF2-40B4-BE49-F238E27FC236}">
                <a16:creationId xmlns:a16="http://schemas.microsoft.com/office/drawing/2014/main" id="{8AAF14C6-9DFC-145A-5F28-B07694E47F21}"/>
              </a:ext>
            </a:extLst>
          </p:cNvPr>
          <p:cNvSpPr/>
          <p:nvPr/>
        </p:nvSpPr>
        <p:spPr>
          <a:xfrm>
            <a:off x="5897880" y="2715768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List of all clickable categories</a:t>
            </a:r>
          </a:p>
        </p:txBody>
      </p:sp>
      <p:sp>
        <p:nvSpPr>
          <p:cNvPr id="10" name="Shape 32">
            <a:extLst>
              <a:ext uri="{FF2B5EF4-FFF2-40B4-BE49-F238E27FC236}">
                <a16:creationId xmlns:a16="http://schemas.microsoft.com/office/drawing/2014/main" id="{DBDBD33F-9A63-5C43-8295-CDE005A7802B}"/>
              </a:ext>
            </a:extLst>
          </p:cNvPr>
          <p:cNvSpPr/>
          <p:nvPr/>
        </p:nvSpPr>
        <p:spPr>
          <a:xfrm>
            <a:off x="5760720" y="3200400"/>
            <a:ext cx="310896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34">
            <a:extLst>
              <a:ext uri="{FF2B5EF4-FFF2-40B4-BE49-F238E27FC236}">
                <a16:creationId xmlns:a16="http://schemas.microsoft.com/office/drawing/2014/main" id="{EBA8BC60-BAF5-ABBB-C9E4-885854E40C1C}"/>
              </a:ext>
            </a:extLst>
          </p:cNvPr>
          <p:cNvSpPr/>
          <p:nvPr/>
        </p:nvSpPr>
        <p:spPr>
          <a:xfrm>
            <a:off x="5897880" y="3246120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Main Content Area</a:t>
            </a:r>
            <a:endParaRPr lang="en-US" sz="1100" dirty="0"/>
          </a:p>
        </p:txBody>
      </p:sp>
      <p:sp>
        <p:nvSpPr>
          <p:cNvPr id="12" name="Text 35">
            <a:extLst>
              <a:ext uri="{FF2B5EF4-FFF2-40B4-BE49-F238E27FC236}">
                <a16:creationId xmlns:a16="http://schemas.microsoft.com/office/drawing/2014/main" id="{6DCB01B5-D9CA-54B0-7120-D92CF58CFB38}"/>
              </a:ext>
            </a:extLst>
          </p:cNvPr>
          <p:cNvSpPr/>
          <p:nvPr/>
        </p:nvSpPr>
        <p:spPr>
          <a:xfrm>
            <a:off x="5897880" y="3584448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Product </a:t>
            </a:r>
            <a:r>
              <a:rPr lang="en-US" sz="1000" dirty="0" err="1">
                <a:solidFill>
                  <a:schemeClr val="bg1"/>
                </a:solidFill>
              </a:rPr>
              <a:t>Table</a:t>
            </a:r>
          </a:p>
        </p:txBody>
      </p:sp>
      <p:sp>
        <p:nvSpPr>
          <p:cNvPr id="13" name="Shape 36">
            <a:extLst>
              <a:ext uri="{FF2B5EF4-FFF2-40B4-BE49-F238E27FC236}">
                <a16:creationId xmlns:a16="http://schemas.microsoft.com/office/drawing/2014/main" id="{E1D8B2BD-A3E6-BCA8-2D51-AE3AB4DD13F2}"/>
              </a:ext>
            </a:extLst>
          </p:cNvPr>
          <p:cNvSpPr/>
          <p:nvPr/>
        </p:nvSpPr>
        <p:spPr>
          <a:xfrm>
            <a:off x="5760720" y="4069080"/>
            <a:ext cx="3108960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37">
            <a:extLst>
              <a:ext uri="{FF2B5EF4-FFF2-40B4-BE49-F238E27FC236}">
                <a16:creationId xmlns:a16="http://schemas.microsoft.com/office/drawing/2014/main" id="{0FABABC5-C05D-06A2-01FC-8415860BF765}"/>
              </a:ext>
            </a:extLst>
          </p:cNvPr>
          <p:cNvSpPr/>
          <p:nvPr/>
        </p:nvSpPr>
        <p:spPr>
          <a:xfrm>
            <a:off x="5760720" y="4069080"/>
            <a:ext cx="73152" cy="77724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38">
            <a:extLst>
              <a:ext uri="{FF2B5EF4-FFF2-40B4-BE49-F238E27FC236}">
                <a16:creationId xmlns:a16="http://schemas.microsoft.com/office/drawing/2014/main" id="{8EAB28C3-5CE0-141A-A208-57BDF400C27A}"/>
              </a:ext>
            </a:extLst>
          </p:cNvPr>
          <p:cNvSpPr/>
          <p:nvPr/>
        </p:nvSpPr>
        <p:spPr>
          <a:xfrm>
            <a:off x="5897880" y="4114800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Search Bar</a:t>
            </a:r>
            <a:endParaRPr lang="en-US" sz="1100" dirty="0"/>
          </a:p>
        </p:txBody>
      </p:sp>
      <p:sp>
        <p:nvSpPr>
          <p:cNvPr id="16" name="Text 39">
            <a:extLst>
              <a:ext uri="{FF2B5EF4-FFF2-40B4-BE49-F238E27FC236}">
                <a16:creationId xmlns:a16="http://schemas.microsoft.com/office/drawing/2014/main" id="{1CDCD240-3991-85FE-B293-2FA47EC11BD8}"/>
              </a:ext>
            </a:extLst>
          </p:cNvPr>
          <p:cNvSpPr/>
          <p:nvPr/>
        </p:nvSpPr>
        <p:spPr>
          <a:xfrm>
            <a:off x="5897880" y="4453128"/>
            <a:ext cx="2926080" cy="3200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Real-time filtering by product name</a:t>
            </a:r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35A41132-6C97-FD77-2234-269E196768C2}"/>
              </a:ext>
            </a:extLst>
          </p:cNvPr>
          <p:cNvSpPr/>
          <p:nvPr/>
        </p:nvSpPr>
        <p:spPr>
          <a:xfrm>
            <a:off x="304800" y="155114"/>
            <a:ext cx="822960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2400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900995C9-2C6D-D8BD-0335-6767FCD74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72065"/>
            <a:ext cx="5166360" cy="237813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40A6E98B-0EB4-7E6A-67C6-0940A4E63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94" y="3001612"/>
            <a:ext cx="3635636" cy="1952056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9FCA0893-F9A5-63AF-EE00-38444DBB0F78}"/>
              </a:ext>
            </a:extLst>
          </p:cNvPr>
          <p:cNvSpPr/>
          <p:nvPr/>
        </p:nvSpPr>
        <p:spPr>
          <a:xfrm>
            <a:off x="8534400" y="4732173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9925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98120" y="1033272"/>
            <a:ext cx="37261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98120" y="1033272"/>
            <a:ext cx="7315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21792" y="1124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Dynamic Display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Sidebar menu pulls all categories from the database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8120" y="1965960"/>
            <a:ext cx="37261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98120" y="1965960"/>
            <a:ext cx="7315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1792" y="2039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Click on 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95728"/>
            <a:ext cx="32293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Shows products in a table (Ref, Name, Description, Brand, Price, Qty, Photo)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8120" y="2880360"/>
            <a:ext cx="37261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3" name="Shape 11"/>
          <p:cNvSpPr/>
          <p:nvPr/>
        </p:nvSpPr>
        <p:spPr>
          <a:xfrm>
            <a:off x="198120" y="2880360"/>
            <a:ext cx="7315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21792" y="29535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Add Category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3101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Form available when category does not yet exist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120" y="3805428"/>
            <a:ext cx="37261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98120" y="3805428"/>
            <a:ext cx="7315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1792" y="38679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</a:rPr>
              <a:t>Duplicate Prevention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22452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Server-side check: duplicate names are rejected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05156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8A5D531-493B-7669-88E9-1BEB408B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281" y="955548"/>
            <a:ext cx="5007497" cy="3570732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0B2A4FA2-41E2-72C5-F72A-1A10B5EEBA06}"/>
              </a:ext>
            </a:extLst>
          </p:cNvPr>
          <p:cNvSpPr/>
          <p:nvPr/>
        </p:nvSpPr>
        <p:spPr>
          <a:xfrm>
            <a:off x="8530046" y="4686300"/>
            <a:ext cx="4114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E8549B-24D1-6BEB-29BE-C02216343C4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EE013CC6-0F1C-2737-7E9B-DECA4A702083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3200" dirty="0"/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65AE5A1A-8E46-3D25-6DB6-C4891CBF9FA8}"/>
              </a:ext>
            </a:extLst>
          </p:cNvPr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BA83DE92-FF12-393A-DA37-1D4161E905E0}"/>
              </a:ext>
            </a:extLst>
          </p:cNvPr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5F024F99-30C0-AED2-6D7D-C51754C30A07}"/>
              </a:ext>
            </a:extLst>
          </p:cNvPr>
          <p:cNvSpPr/>
          <p:nvPr/>
        </p:nvSpPr>
        <p:spPr>
          <a:xfrm>
            <a:off x="365760" y="1005840"/>
            <a:ext cx="274320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6D66ACFA-034A-34DE-BF9E-9AE6CC552398}"/>
              </a:ext>
            </a:extLst>
          </p:cNvPr>
          <p:cNvSpPr/>
          <p:nvPr/>
        </p:nvSpPr>
        <p:spPr>
          <a:xfrm>
            <a:off x="365760" y="10058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 Ajouter</a:t>
            </a:r>
            <a:endParaRPr lang="en-US" sz="14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D095FEC2-20DF-5754-878C-3EE6F66EBD21}"/>
              </a:ext>
            </a:extLst>
          </p:cNvPr>
          <p:cNvSpPr/>
          <p:nvPr/>
        </p:nvSpPr>
        <p:spPr>
          <a:xfrm>
            <a:off x="457200" y="1554480"/>
            <a:ext cx="2560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Reference (unique)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Name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Description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Brand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Price (&gt; 0)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Quantity (≥ 0)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Photo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Category (required)</a:t>
            </a:r>
            <a:endParaRPr lang="en-US" sz="16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CF07A216-45A9-965E-51AF-B63A5825A73B}"/>
              </a:ext>
            </a:extLst>
          </p:cNvPr>
          <p:cNvSpPr/>
          <p:nvPr/>
        </p:nvSpPr>
        <p:spPr>
          <a:xfrm>
            <a:off x="329184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A94C55B6-2B71-B4AD-45DE-CDABB59D2AF7}"/>
              </a:ext>
            </a:extLst>
          </p:cNvPr>
          <p:cNvSpPr/>
          <p:nvPr/>
        </p:nvSpPr>
        <p:spPr>
          <a:xfrm>
            <a:off x="3291840" y="1005840"/>
            <a:ext cx="2743200" cy="4754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                 Modifier</a:t>
            </a:r>
            <a:endParaRPr lang="en-US" dirty="0"/>
          </a:p>
          <a:p>
            <a:endParaRPr lang="fr-FR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4D29777-AB9C-3044-3DDA-BB09EC11E2A2}"/>
              </a:ext>
            </a:extLst>
          </p:cNvPr>
          <p:cNvSpPr/>
          <p:nvPr/>
        </p:nvSpPr>
        <p:spPr>
          <a:xfrm>
            <a:off x="3383280" y="1554480"/>
            <a:ext cx="25603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All fields editable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EXCEPT the reference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(read-only)</a:t>
            </a:r>
            <a:endParaRPr lang="en-US" sz="16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FFDB50CF-CF9B-41D0-6A84-E20B2E7B19DE}"/>
              </a:ext>
            </a:extLst>
          </p:cNvPr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DA0AC74D-7828-7BAF-D84E-005E953A2D03}"/>
              </a:ext>
            </a:extLst>
          </p:cNvPr>
          <p:cNvSpPr/>
          <p:nvPr/>
        </p:nvSpPr>
        <p:spPr>
          <a:xfrm>
            <a:off x="6217920" y="1005840"/>
            <a:ext cx="2743200" cy="4754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              </a:t>
            </a:r>
            <a:r>
              <a:rPr lang="en-US" b="1" dirty="0" err="1">
                <a:solidFill>
                  <a:srgbClr val="FFFFFF"/>
                </a:solidFill>
              </a:rPr>
              <a:t>Supprimer</a:t>
            </a:r>
            <a:endParaRPr lang="en-US" dirty="0"/>
          </a:p>
          <a:p>
            <a:endParaRPr lang="fr-FR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D7D13A7-E7F8-0B15-DA9B-19826954BDCB}"/>
              </a:ext>
            </a:extLst>
          </p:cNvPr>
          <p:cNvSpPr/>
          <p:nvPr/>
        </p:nvSpPr>
        <p:spPr>
          <a:xfrm>
            <a:off x="6309360" y="1554480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Allowed only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if quantity = 0</a:t>
            </a:r>
            <a:endParaRPr lang="en-US" sz="160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40BFB9A0-0074-1DE4-38AC-F741A92C39C9}"/>
              </a:ext>
            </a:extLst>
          </p:cNvPr>
          <p:cNvSpPr/>
          <p:nvPr/>
        </p:nvSpPr>
        <p:spPr>
          <a:xfrm>
            <a:off x="8526780" y="4736592"/>
            <a:ext cx="525780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828800" cy="685800"/>
          </a:xfrm>
          <a:prstGeom prst="rect">
            <a:avLst/>
          </a:prstGeom>
          <a:solidFill>
            <a:srgbClr val="1A2B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 Made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389888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450592" y="12618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828800" cy="68580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56032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 quantity sold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89888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53712" y="12618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828800" cy="685800"/>
          </a:xfrm>
          <a:prstGeom prst="rect">
            <a:avLst/>
          </a:prstGeom>
          <a:solidFill>
            <a:srgbClr val="F59E0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6344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Check: Stock Qty ≥ Sold Qty?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89888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656832" y="12618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051560"/>
            <a:ext cx="1828800" cy="685800"/>
          </a:xfrm>
          <a:prstGeom prst="rect">
            <a:avLst/>
          </a:prstGeom>
          <a:solidFill>
            <a:srgbClr val="16A3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76656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Update in Database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Qty = Current Qty − Sold Qty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06240" y="2011680"/>
            <a:ext cx="1828800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2062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❌ Error: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Insufficient Stock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NO 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154680"/>
            <a:ext cx="3840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74320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CEF88416-F7CE-E346-46BD-CF7BD1B83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816375"/>
            <a:ext cx="6412812" cy="227681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239A274-2845-F178-8156-F6B1C570B98C}"/>
              </a:ext>
            </a:extLst>
          </p:cNvPr>
          <p:cNvSpPr/>
          <p:nvPr/>
        </p:nvSpPr>
        <p:spPr>
          <a:xfrm>
            <a:off x="277548" y="2960370"/>
            <a:ext cx="1993392" cy="166878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If stock is insufficient, an error is triggered and no update is made.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5DD7A26-1D08-E726-3755-D5A32A26BEF0}"/>
              </a:ext>
            </a:extLst>
          </p:cNvPr>
          <p:cNvSpPr/>
          <p:nvPr/>
        </p:nvSpPr>
        <p:spPr>
          <a:xfrm>
            <a:off x="8549640" y="4541129"/>
            <a:ext cx="453972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063252-1947-5832-B560-727DA8B8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36">
            <a:extLst>
              <a:ext uri="{FF2B5EF4-FFF2-40B4-BE49-F238E27FC236}">
                <a16:creationId xmlns:a16="http://schemas.microsoft.com/office/drawing/2014/main" id="{49158EBD-5BFB-B6D8-2C3A-187C8F1EF2A7}"/>
              </a:ext>
            </a:extLst>
          </p:cNvPr>
          <p:cNvSpPr/>
          <p:nvPr/>
        </p:nvSpPr>
        <p:spPr>
          <a:xfrm>
            <a:off x="5303520" y="291693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4A74AD65-EEB4-9C75-E9DA-E152EFFAF79B}"/>
              </a:ext>
            </a:extLst>
          </p:cNvPr>
          <p:cNvSpPr/>
          <p:nvPr/>
        </p:nvSpPr>
        <p:spPr>
          <a:xfrm>
            <a:off x="539496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BA9EFB8-BE4A-8E98-3A30-60CCC96E1684}"/>
              </a:ext>
            </a:extLst>
          </p:cNvPr>
          <p:cNvSpPr/>
          <p:nvPr/>
        </p:nvSpPr>
        <p:spPr>
          <a:xfrm>
            <a:off x="5394960" y="36576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65415BE4-FA3A-B089-A798-6033ACF244B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04" r="-2204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C112E8BD-A9BB-B85B-4E3E-F2294784ECB5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Sorting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0569F771-94E0-3761-FE15-C6A2AC0019C9}"/>
              </a:ext>
            </a:extLst>
          </p:cNvPr>
          <p:cNvSpPr/>
          <p:nvPr/>
        </p:nvSpPr>
        <p:spPr>
          <a:xfrm>
            <a:off x="457200" y="1051560"/>
            <a:ext cx="70332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FAFA8B8A-F7BB-DF49-5579-2DD87C0D4D8B}"/>
              </a:ext>
            </a:extLst>
          </p:cNvPr>
          <p:cNvSpPr/>
          <p:nvPr/>
        </p:nvSpPr>
        <p:spPr>
          <a:xfrm>
            <a:off x="457200" y="1051560"/>
            <a:ext cx="703326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r>
              <a:rPr lang="en-US" b="1">
                <a:solidFill>
                  <a:srgbClr val="FFFFFF"/>
                </a:solidFill>
              </a:rPr>
              <a:t>🔍 Search by Product Name</a:t>
            </a:r>
            <a:endParaRPr lang="en-US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E5AF7486-331C-F095-2FD5-2E6890B532FC}"/>
              </a:ext>
            </a:extLst>
          </p:cNvPr>
          <p:cNvSpPr/>
          <p:nvPr/>
        </p:nvSpPr>
        <p:spPr>
          <a:xfrm>
            <a:off x="548640" y="14904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 text search field that filters products within the selected category in real time (or on form submission).</a:t>
            </a:r>
            <a:endParaRPr lang="en-US" sz="105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C083500-8BC9-47D0-25DC-91905608333F}"/>
              </a:ext>
            </a:extLst>
          </p:cNvPr>
          <p:cNvSpPr/>
          <p:nvPr/>
        </p:nvSpPr>
        <p:spPr>
          <a:xfrm>
            <a:off x="457200" y="2286000"/>
            <a:ext cx="70332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AD956A9A-D5AD-7075-8D77-982874EFC9AB}"/>
              </a:ext>
            </a:extLst>
          </p:cNvPr>
          <p:cNvSpPr/>
          <p:nvPr/>
        </p:nvSpPr>
        <p:spPr>
          <a:xfrm>
            <a:off x="548640" y="2286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↕ Sort by Price</a:t>
            </a:r>
            <a:endParaRPr lang="en-US" sz="12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D52884E-3469-FEB1-3DC7-CCF8EBACDBB6}"/>
              </a:ext>
            </a:extLst>
          </p:cNvPr>
          <p:cNvSpPr/>
          <p:nvPr/>
        </p:nvSpPr>
        <p:spPr>
          <a:xfrm>
            <a:off x="548640" y="27249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 button or dropdown to sort products from lowest to highest price, or in reverse.</a:t>
            </a:r>
            <a:endParaRPr lang="en-US" sz="105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811592D-B846-F259-F113-781EAA64CFBD}"/>
              </a:ext>
            </a:extLst>
          </p:cNvPr>
          <p:cNvSpPr/>
          <p:nvPr/>
        </p:nvSpPr>
        <p:spPr>
          <a:xfrm>
            <a:off x="457200" y="3520440"/>
            <a:ext cx="70332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E213CC65-E39B-0A16-2DF5-8F0AC4778491}"/>
              </a:ext>
            </a:extLst>
          </p:cNvPr>
          <p:cNvSpPr/>
          <p:nvPr/>
        </p:nvSpPr>
        <p:spPr>
          <a:xfrm>
            <a:off x="548640" y="3520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Sort by Brand</a:t>
            </a:r>
            <a:endParaRPr lang="en-US" sz="12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93BA155F-189E-119F-8FEC-3C13181882FD}"/>
              </a:ext>
            </a:extLst>
          </p:cNvPr>
          <p:cNvSpPr/>
          <p:nvPr/>
        </p:nvSpPr>
        <p:spPr>
          <a:xfrm>
            <a:off x="548640" y="3959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Alphabetical sorting by brand to easily group products from the same manufacturer.</a:t>
            </a:r>
            <a:endParaRPr lang="en-US" sz="105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0397921C-0D5F-6248-708D-F105187BA4F8}"/>
              </a:ext>
            </a:extLst>
          </p:cNvPr>
          <p:cNvSpPr/>
          <p:nvPr/>
        </p:nvSpPr>
        <p:spPr>
          <a:xfrm>
            <a:off x="45720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D74101A5-4D53-2C22-DF9B-8CE89CFDF53D}"/>
              </a:ext>
            </a:extLst>
          </p:cNvPr>
          <p:cNvSpPr/>
          <p:nvPr/>
        </p:nvSpPr>
        <p:spPr>
          <a:xfrm>
            <a:off x="457200" y="2276856"/>
            <a:ext cx="703326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A6A5691-B03B-B0B3-C872-B650B4EB1493}"/>
              </a:ext>
            </a:extLst>
          </p:cNvPr>
          <p:cNvSpPr/>
          <p:nvPr/>
        </p:nvSpPr>
        <p:spPr>
          <a:xfrm>
            <a:off x="548640" y="22768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↕ Sort by Price</a:t>
            </a:r>
            <a:endParaRPr lang="en-US" sz="12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64E66089-5059-8A60-D55E-7468254D375D}"/>
              </a:ext>
            </a:extLst>
          </p:cNvPr>
          <p:cNvSpPr/>
          <p:nvPr/>
        </p:nvSpPr>
        <p:spPr>
          <a:xfrm>
            <a:off x="457200" y="3506724"/>
            <a:ext cx="7033260" cy="384048"/>
          </a:xfrm>
          <a:prstGeom prst="rect">
            <a:avLst/>
          </a:prstGeom>
          <a:solidFill>
            <a:srgbClr val="1A2B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6698F75F-E14F-CF7A-B382-DE97658AB212}"/>
              </a:ext>
            </a:extLst>
          </p:cNvPr>
          <p:cNvSpPr/>
          <p:nvPr/>
        </p:nvSpPr>
        <p:spPr>
          <a:xfrm>
            <a:off x="548640" y="35067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Sort by Brand</a:t>
            </a:r>
            <a:endParaRPr lang="en-US" sz="1200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C477B63-A08F-0735-4800-21BF64C06F90}"/>
              </a:ext>
            </a:extLst>
          </p:cNvPr>
          <p:cNvSpPr/>
          <p:nvPr/>
        </p:nvSpPr>
        <p:spPr>
          <a:xfrm>
            <a:off x="8379823" y="4541129"/>
            <a:ext cx="529045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7200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548640" y="3520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🏷 Sort by Brand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91693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9496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3657600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DA5E326E-B547-B146-0EEE-99AB74C7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120" y="-84963"/>
            <a:ext cx="4373881" cy="5228463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39C90E37-3997-86A6-8A2A-733E59276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47" y="-53353"/>
            <a:ext cx="4777867" cy="5196853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BC8EED35-63B0-38DB-8893-7DA08944FDED}"/>
              </a:ext>
            </a:extLst>
          </p:cNvPr>
          <p:cNvSpPr/>
          <p:nvPr/>
        </p:nvSpPr>
        <p:spPr>
          <a:xfrm>
            <a:off x="8379824" y="4541129"/>
            <a:ext cx="611776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457200"/>
            <a:ext cx="73152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showcase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 flipV="1">
            <a:off x="381000" y="3005326"/>
            <a:ext cx="8534400" cy="8534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DF948A6-95A8-388E-0907-AD19668D3AE0}"/>
              </a:ext>
            </a:extLst>
          </p:cNvPr>
          <p:cNvSpPr/>
          <p:nvPr/>
        </p:nvSpPr>
        <p:spPr>
          <a:xfrm>
            <a:off x="8379823" y="4541129"/>
            <a:ext cx="630687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B4A7E-753B-BB5A-C1AA-98100465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710DA3-A4D8-4F33-C766-E727475BAED3}"/>
              </a:ext>
            </a:extLst>
          </p:cNvPr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44C9076-A002-A8A7-285A-66A70D31B39A}"/>
              </a:ext>
            </a:extLst>
          </p:cNvPr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B41DA2-A64F-954C-DC64-5EA455BEABF6}"/>
              </a:ext>
            </a:extLst>
          </p:cNvPr>
          <p:cNvSpPr/>
          <p:nvPr/>
        </p:nvSpPr>
        <p:spPr>
          <a:xfrm>
            <a:off x="914400" y="457200"/>
            <a:ext cx="73152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3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BC3E26-49E5-8C82-F4D2-499969215213}"/>
              </a:ext>
            </a:extLst>
          </p:cNvPr>
          <p:cNvSpPr/>
          <p:nvPr/>
        </p:nvSpPr>
        <p:spPr>
          <a:xfrm flipV="1">
            <a:off x="381000" y="3005326"/>
            <a:ext cx="8534400" cy="8534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D517930-DD90-11B6-FF3E-31D736EC20C9}"/>
              </a:ext>
            </a:extLst>
          </p:cNvPr>
          <p:cNvSpPr/>
          <p:nvPr/>
        </p:nvSpPr>
        <p:spPr>
          <a:xfrm>
            <a:off x="6400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DD60C4-AF1D-5CC9-31D2-F9F77F1D63A8}"/>
              </a:ext>
            </a:extLst>
          </p:cNvPr>
          <p:cNvSpPr/>
          <p:nvPr/>
        </p:nvSpPr>
        <p:spPr>
          <a:xfrm>
            <a:off x="64008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95C153-A000-86B9-5CA8-E13708D2FFFB}"/>
              </a:ext>
            </a:extLst>
          </p:cNvPr>
          <p:cNvSpPr/>
          <p:nvPr/>
        </p:nvSpPr>
        <p:spPr>
          <a:xfrm>
            <a:off x="64008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704B85E-9466-C578-4771-FDA6D4BA1453}"/>
              </a:ext>
            </a:extLst>
          </p:cNvPr>
          <p:cNvSpPr/>
          <p:nvPr/>
        </p:nvSpPr>
        <p:spPr>
          <a:xfrm>
            <a:off x="64008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4BCB4D3-8493-4C4E-86F9-3AB03BFC4010}"/>
              </a:ext>
            </a:extLst>
          </p:cNvPr>
          <p:cNvSpPr/>
          <p:nvPr/>
        </p:nvSpPr>
        <p:spPr>
          <a:xfrm>
            <a:off x="64008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E2928A3-1621-2200-58A8-58938EB161A3}"/>
              </a:ext>
            </a:extLst>
          </p:cNvPr>
          <p:cNvSpPr/>
          <p:nvPr/>
        </p:nvSpPr>
        <p:spPr>
          <a:xfrm>
            <a:off x="640080" y="3794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57757D9-D258-2D23-2239-08EF51A7D136}"/>
              </a:ext>
            </a:extLst>
          </p:cNvPr>
          <p:cNvSpPr/>
          <p:nvPr/>
        </p:nvSpPr>
        <p:spPr>
          <a:xfrm>
            <a:off x="49377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159DB1-3FF1-87B0-B747-9045D9CB8479}"/>
              </a:ext>
            </a:extLst>
          </p:cNvPr>
          <p:cNvSpPr/>
          <p:nvPr/>
        </p:nvSpPr>
        <p:spPr>
          <a:xfrm>
            <a:off x="493776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C506BE2-E3EC-76D3-50FD-4B86F59EC3D3}"/>
              </a:ext>
            </a:extLst>
          </p:cNvPr>
          <p:cNvSpPr/>
          <p:nvPr/>
        </p:nvSpPr>
        <p:spPr>
          <a:xfrm>
            <a:off x="4937760" y="2423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56678B6-50C6-22CE-9B15-6636E7645573}"/>
              </a:ext>
            </a:extLst>
          </p:cNvPr>
          <p:cNvSpPr/>
          <p:nvPr/>
        </p:nvSpPr>
        <p:spPr>
          <a:xfrm>
            <a:off x="493776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43F1CC-12FC-7B6C-3FDC-988195A847B4}"/>
              </a:ext>
            </a:extLst>
          </p:cNvPr>
          <p:cNvSpPr/>
          <p:nvPr/>
        </p:nvSpPr>
        <p:spPr>
          <a:xfrm>
            <a:off x="1828800" y="4480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423B2DA-3135-65E6-F541-6121ECBEDB70}"/>
              </a:ext>
            </a:extLst>
          </p:cNvPr>
          <p:cNvSpPr/>
          <p:nvPr/>
        </p:nvSpPr>
        <p:spPr>
          <a:xfrm>
            <a:off x="8379823" y="4541129"/>
            <a:ext cx="630687" cy="36576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8334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833</Words>
  <Application>Microsoft Office PowerPoint</Application>
  <PresentationFormat>Affichage à l'écran (16:9)</PresentationFormat>
  <Paragraphs>188</Paragraphs>
  <Slides>15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Helvetica World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du Stock d'un Magasin Informatique</dc:title>
  <dc:subject>PptxGenJS Presentation</dc:subject>
  <dc:creator>PptxGenJS</dc:creator>
  <cp:lastModifiedBy>belghithrayen</cp:lastModifiedBy>
  <cp:revision>6</cp:revision>
  <dcterms:created xsi:type="dcterms:W3CDTF">2026-04-27T16:17:35Z</dcterms:created>
  <dcterms:modified xsi:type="dcterms:W3CDTF">2026-05-05T12:40:21Z</dcterms:modified>
</cp:coreProperties>
</file>